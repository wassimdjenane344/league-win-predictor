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A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800" b="1">
                <a:solidFill>
                  <a:srgbClr val="C8AA6E"/>
                </a:solidFill>
                <a:latin typeface="Segoe UI"/>
              </a:rPr>
              <a:t>League Win Predictor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6324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F0E6D2"/>
                </a:solidFill>
                <a:latin typeface="Segoe UI"/>
              </a:rPr>
              <a:t>An End-to-End MLOps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9AB0D0"/>
                </a:solidFill>
                <a:latin typeface="Segoe UI"/>
              </a:rPr>
              <a:t>Predicting a League of Legends win from the first 10 minutes —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9AB0D0"/>
                </a:solidFill>
                <a:latin typeface="Segoe UI"/>
              </a:rPr>
              <a:t>and, more importantly, running that AI model in production the professional way.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8AA6E"/>
                </a:solidFill>
                <a:latin typeface="Segoe UI"/>
              </a:rPr>
              <a:t>DevOps &amp; MLOps — Final Project   •   Team of 3   •   Live: lol-frontend-scaw.onrender.com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8AA6E"/>
                </a:solidFill>
                <a:latin typeface="Segoe UI"/>
              </a:rPr>
              <a:t>THE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0E6D2"/>
                </a:solidFill>
                <a:latin typeface="Segoe UI"/>
              </a:rPr>
              <a:t>What is this project really about?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2011680" cy="38100"/>
          </a:xfrm>
          <a:prstGeom prst="rect">
            <a:avLst/>
          </a:prstGeom>
          <a:solidFill>
            <a:srgbClr val="C8A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0E6D2"/>
                </a:solidFill>
                <a:latin typeface="Segoe UI"/>
              </a:rPr>
              <a:t>•  Building an AI model that works on your laptop is the easy part.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9AB0D0"/>
                </a:solidFill>
                <a:latin typeface="Segoe UI"/>
              </a:rPr>
              <a:t>•  The real challenge — and what this project is graded on — is running that model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9AB0D0"/>
                </a:solidFill>
                <a:latin typeface="Segoe UI"/>
              </a:rPr>
              <a:t>•  in production: reliably, automatically, traceably, and monitored.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108960"/>
            <a:ext cx="10515600" cy="2926080"/>
          </a:xfrm>
          <a:prstGeom prst="roundRect">
            <a:avLst/>
          </a:prstGeom>
          <a:solidFill>
            <a:srgbClr val="0F2140"/>
          </a:solidFill>
          <a:ln w="12700">
            <a:solidFill>
              <a:srgbClr val="244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383280"/>
            <a:ext cx="9784080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C8AA6E"/>
                </a:solidFill>
                <a:latin typeface="Segoe UI"/>
              </a:rPr>
              <a:t>The full MLOps lifecycle we had to build: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0E6D2"/>
                </a:solidFill>
                <a:latin typeface="Segoe UI"/>
              </a:rPr>
              <a:t>•  Data versioning  —  know exactly which data trained which model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0E6D2"/>
                </a:solidFill>
                <a:latin typeface="Segoe UI"/>
              </a:rPr>
              <a:t>•  Model training, tracking &amp; a model registry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0E6D2"/>
                </a:solidFill>
                <a:latin typeface="Segoe UI"/>
              </a:rPr>
              <a:t>•  CI/CD with quality gates  —  nothing ships unless it passes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0E6D2"/>
                </a:solidFill>
                <a:latin typeface="Segoe UI"/>
              </a:rPr>
              <a:t>•  Reproducible deployments to the cloud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0E6D2"/>
                </a:solidFill>
                <a:latin typeface="Segoe UI"/>
              </a:rPr>
              <a:t>•  Live monitoring of the production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AB0D0"/>
                </a:solidFill>
                <a:latin typeface="Segoe UI"/>
              </a:rPr>
              <a:t>The game (LoL) is just the pretext. The engineering around it is the point.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8AA6E"/>
                </a:solidFill>
                <a:latin typeface="Segoe UI"/>
              </a:rPr>
              <a:t>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0E6D2"/>
                </a:solidFill>
                <a:latin typeface="Segoe UI"/>
              </a:rPr>
              <a:t>The app in one look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2011680" cy="38100"/>
          </a:xfrm>
          <a:prstGeom prst="rect">
            <a:avLst/>
          </a:prstGeom>
          <a:solidFill>
            <a:srgbClr val="C8A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0E6D2"/>
                </a:solidFill>
                <a:latin typeface="Segoe UI"/>
              </a:rPr>
              <a:t>•  A web app that predicts the blue team's win probability at minute 10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9AB0D0"/>
                </a:solidFill>
                <a:latin typeface="Segoe UI"/>
              </a:rPr>
              <a:t>•  of a ranked League of Legends game, from stats like gold lead, kills, dragons…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26080"/>
            <a:ext cx="10515600" cy="2651760"/>
          </a:xfrm>
          <a:prstGeom prst="roundRect">
            <a:avLst/>
          </a:prstGeom>
          <a:solidFill>
            <a:srgbClr val="0F2140"/>
          </a:solidFill>
          <a:ln w="12700">
            <a:solidFill>
              <a:srgbClr val="244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154680"/>
            <a:ext cx="9784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0E6D2"/>
                </a:solidFill>
                <a:latin typeface="Segoe UI"/>
              </a:rPr>
              <a:t>You enter the match stats  →  you get a prediction: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840480"/>
            <a:ext cx="530352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Segoe UI"/>
              </a:rPr>
              <a:t>Blue 55%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3840480"/>
            <a:ext cx="4297680" cy="548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  <a:latin typeface="Segoe UI"/>
              </a:rPr>
              <a:t>Red 45%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617720"/>
            <a:ext cx="9784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B0D0"/>
                </a:solidFill>
                <a:latin typeface="Segoe UI"/>
              </a:rPr>
              <a:t>Every prediction is traceable: it shows the model version, the git commit and the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B0D0"/>
                </a:solidFill>
                <a:latin typeface="Segoe UI"/>
              </a:rPr>
              <a:t>data version that produced it. The model runs on a real server, served from the registry.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8AA6E"/>
                </a:solidFill>
                <a:latin typeface="Segoe UI"/>
              </a:rPr>
              <a:t>HOW TO THINK ABOUT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0E6D2"/>
                </a:solidFill>
                <a:latin typeface="Segoe UI"/>
              </a:rPr>
              <a:t>The mental model: a restaurant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2011680" cy="38100"/>
          </a:xfrm>
          <a:prstGeom prst="rect">
            <a:avLst/>
          </a:prstGeom>
          <a:solidFill>
            <a:srgbClr val="C8A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AB0D0"/>
                </a:solidFill>
                <a:latin typeface="Segoe UI"/>
              </a:rPr>
              <a:t>Cooking a great dish at home = your model working on your laptop.  Opening a restaurant that serves it to hundreds of customers every day = this project.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40280"/>
            <a:ext cx="5120640" cy="749808"/>
          </a:xfrm>
          <a:prstGeom prst="roundRect">
            <a:avLst/>
          </a:prstGeom>
          <a:solidFill>
            <a:srgbClr val="0F2140"/>
          </a:solidFill>
          <a:ln w="12700">
            <a:solidFill>
              <a:srgbClr val="244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b="1" sz="1250">
                <a:solidFill>
                  <a:srgbClr val="C8AA6E"/>
                </a:solidFill>
                <a:latin typeface="Segoe UI"/>
              </a:rPr>
              <a:t>The model  —  </a:t>
            </a:r>
            <a:r>
              <a:rPr sz="1150">
                <a:solidFill>
                  <a:srgbClr val="F0E6D2"/>
                </a:solidFill>
                <a:latin typeface="Segoe UI"/>
              </a:rPr>
              <a:t>The recipe / the dish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081528"/>
            <a:ext cx="5120640" cy="749808"/>
          </a:xfrm>
          <a:prstGeom prst="roundRect">
            <a:avLst/>
          </a:prstGeom>
          <a:solidFill>
            <a:srgbClr val="142A50"/>
          </a:solidFill>
          <a:ln w="12700">
            <a:solidFill>
              <a:srgbClr val="244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b="1" sz="1250">
                <a:solidFill>
                  <a:srgbClr val="C8AA6E"/>
                </a:solidFill>
                <a:latin typeface="Segoe UI"/>
              </a:rPr>
              <a:t>Data + DVC  —  </a:t>
            </a:r>
            <a:r>
              <a:rPr sz="1150">
                <a:solidFill>
                  <a:srgbClr val="F0E6D2"/>
                </a:solidFill>
                <a:latin typeface="Segoe UI"/>
              </a:rPr>
              <a:t>The ingredients — and knowing exactly which batch was used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922776"/>
            <a:ext cx="5120640" cy="749808"/>
          </a:xfrm>
          <a:prstGeom prst="roundRect">
            <a:avLst/>
          </a:prstGeom>
          <a:solidFill>
            <a:srgbClr val="0F2140"/>
          </a:solidFill>
          <a:ln w="12700">
            <a:solidFill>
              <a:srgbClr val="244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b="1" sz="1250">
                <a:solidFill>
                  <a:srgbClr val="C8AA6E"/>
                </a:solidFill>
                <a:latin typeface="Segoe UI"/>
              </a:rPr>
              <a:t>MLflow  —  </a:t>
            </a:r>
            <a:r>
              <a:rPr sz="1150">
                <a:solidFill>
                  <a:srgbClr val="F0E6D2"/>
                </a:solidFill>
                <a:latin typeface="Segoe UI"/>
              </a:rPr>
              <a:t>The chef's logbook + the shelf holding the official recipe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764024"/>
            <a:ext cx="5120640" cy="749808"/>
          </a:xfrm>
          <a:prstGeom prst="roundRect">
            <a:avLst/>
          </a:prstGeom>
          <a:solidFill>
            <a:srgbClr val="142A50"/>
          </a:solidFill>
          <a:ln w="12700">
            <a:solidFill>
              <a:srgbClr val="244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b="1" sz="1250">
                <a:solidFill>
                  <a:srgbClr val="C8AA6E"/>
                </a:solidFill>
                <a:latin typeface="Segoe UI"/>
              </a:rPr>
              <a:t>Tests  —  </a:t>
            </a:r>
            <a:r>
              <a:rPr sz="1150">
                <a:solidFill>
                  <a:srgbClr val="F0E6D2"/>
                </a:solidFill>
                <a:latin typeface="Segoe UI"/>
              </a:rPr>
              <a:t>Quality control — taste before serving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605272"/>
            <a:ext cx="5120640" cy="749808"/>
          </a:xfrm>
          <a:prstGeom prst="roundRect">
            <a:avLst/>
          </a:prstGeom>
          <a:solidFill>
            <a:srgbClr val="0F2140"/>
          </a:solidFill>
          <a:ln w="12700">
            <a:solidFill>
              <a:srgbClr val="244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b="1" sz="1250">
                <a:solidFill>
                  <a:srgbClr val="C8AA6E"/>
                </a:solidFill>
                <a:latin typeface="Segoe UI"/>
              </a:rPr>
              <a:t>Quality gate  —  </a:t>
            </a:r>
            <a:r>
              <a:rPr sz="1150">
                <a:solidFill>
                  <a:srgbClr val="F0E6D2"/>
                </a:solidFill>
                <a:latin typeface="Segoe UI"/>
              </a:rPr>
              <a:t>The chef tastes: good → served; bad → stays in the kitchen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120640" cy="749808"/>
          </a:xfrm>
          <a:prstGeom prst="roundRect">
            <a:avLst/>
          </a:prstGeom>
          <a:solidFill>
            <a:srgbClr val="142A50"/>
          </a:solidFill>
          <a:ln w="12700">
            <a:solidFill>
              <a:srgbClr val="244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b="1" sz="1250">
                <a:solidFill>
                  <a:srgbClr val="C8AA6E"/>
                </a:solidFill>
                <a:latin typeface="Segoe UI"/>
              </a:rPr>
              <a:t>CI/CD  —  </a:t>
            </a:r>
            <a:r>
              <a:rPr sz="1150">
                <a:solidFill>
                  <a:srgbClr val="F0E6D2"/>
                </a:solidFill>
                <a:latin typeface="Segoe UI"/>
              </a:rPr>
              <a:t>The automatic conveyor: kitchen → QC → dining room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3081528"/>
            <a:ext cx="5120640" cy="749808"/>
          </a:xfrm>
          <a:prstGeom prst="roundRect">
            <a:avLst/>
          </a:prstGeom>
          <a:solidFill>
            <a:srgbClr val="0F2140"/>
          </a:solidFill>
          <a:ln w="12700">
            <a:solidFill>
              <a:srgbClr val="244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b="1" sz="1250">
                <a:solidFill>
                  <a:srgbClr val="C8AA6E"/>
                </a:solidFill>
                <a:latin typeface="Segoe UI"/>
              </a:rPr>
              <a:t>Git branches  —  </a:t>
            </a:r>
            <a:r>
              <a:rPr sz="1150">
                <a:solidFill>
                  <a:srgbClr val="F0E6D2"/>
                </a:solidFill>
                <a:latin typeface="Segoe UI"/>
              </a:rPr>
              <a:t>Draft → test kitchen → dress-rehearsal → dining room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3922776"/>
            <a:ext cx="5120640" cy="749808"/>
          </a:xfrm>
          <a:prstGeom prst="roundRect">
            <a:avLst/>
          </a:prstGeom>
          <a:solidFill>
            <a:srgbClr val="142A50"/>
          </a:solidFill>
          <a:ln w="12700">
            <a:solidFill>
              <a:srgbClr val="244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b="1" sz="1250">
                <a:solidFill>
                  <a:srgbClr val="C8AA6E"/>
                </a:solidFill>
                <a:latin typeface="Segoe UI"/>
              </a:rPr>
              <a:t>Docker  —  </a:t>
            </a:r>
            <a:r>
              <a:rPr sz="1150">
                <a:solidFill>
                  <a:srgbClr val="F0E6D2"/>
                </a:solidFill>
                <a:latin typeface="Segoe UI"/>
              </a:rPr>
              <a:t>The standard container — same everywhere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4764024"/>
            <a:ext cx="5120640" cy="749808"/>
          </a:xfrm>
          <a:prstGeom prst="roundRect">
            <a:avLst/>
          </a:prstGeom>
          <a:solidFill>
            <a:srgbClr val="0F2140"/>
          </a:solidFill>
          <a:ln w="12700">
            <a:solidFill>
              <a:srgbClr val="244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b="1" sz="1250">
                <a:solidFill>
                  <a:srgbClr val="C8AA6E"/>
                </a:solidFill>
                <a:latin typeface="Segoe UI"/>
              </a:rPr>
              <a:t>Cloud (Render)  —  </a:t>
            </a:r>
            <a:r>
              <a:rPr sz="1150">
                <a:solidFill>
                  <a:srgbClr val="F0E6D2"/>
                </a:solidFill>
                <a:latin typeface="Segoe UI"/>
              </a:rPr>
              <a:t>The restaurant, open to the public, with an address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5605272"/>
            <a:ext cx="5120640" cy="749808"/>
          </a:xfrm>
          <a:prstGeom prst="roundRect">
            <a:avLst/>
          </a:prstGeom>
          <a:solidFill>
            <a:srgbClr val="142A50"/>
          </a:solidFill>
          <a:ln w="12700">
            <a:solidFill>
              <a:srgbClr val="244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b="1" sz="1250">
                <a:solidFill>
                  <a:srgbClr val="C8AA6E"/>
                </a:solidFill>
                <a:latin typeface="Segoe UI"/>
              </a:rPr>
              <a:t>Prometheus/Grafana  —  </a:t>
            </a:r>
            <a:r>
              <a:rPr sz="1150">
                <a:solidFill>
                  <a:srgbClr val="F0E6D2"/>
                </a:solidFill>
                <a:latin typeface="Segoe UI"/>
              </a:rPr>
              <a:t>The cameras watching the dining room, live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8AA6E"/>
                </a:solidFill>
                <a:latin typeface="Segoe UI"/>
              </a:rPr>
              <a:t>THE 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0E6D2"/>
                </a:solidFill>
                <a:latin typeface="Segoe UI"/>
              </a:rPr>
              <a:t>Architecture — the whole 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2011680" cy="38100"/>
          </a:xfrm>
          <a:prstGeom prst="rect">
            <a:avLst/>
          </a:prstGeom>
          <a:solidFill>
            <a:srgbClr val="C8A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2788920"/>
            <a:ext cx="1965960" cy="1097280"/>
          </a:xfrm>
          <a:prstGeom prst="roundRect">
            <a:avLst/>
          </a:prstGeom>
          <a:solidFill>
            <a:srgbClr val="142A50"/>
          </a:solidFill>
          <a:ln w="15875">
            <a:solidFill>
              <a:srgbClr val="C8A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b="1" sz="1500">
                <a:solidFill>
                  <a:srgbClr val="C8AA6E"/>
                </a:solidFill>
                <a:latin typeface="Segoe UI"/>
              </a:rPr>
              <a:t>Developer</a:t>
            </a:r>
          </a:p>
          <a:p>
            <a:pPr algn="ctr">
              <a:spcAft>
                <a:spcPts val="200"/>
              </a:spcAft>
            </a:pPr>
            <a:r>
              <a:rPr b="0" sz="1100">
                <a:solidFill>
                  <a:srgbClr val="F0E6D2"/>
                </a:solidFill>
                <a:latin typeface="Segoe UI"/>
              </a:rPr>
              <a:t>your laptop</a:t>
            </a:r>
          </a:p>
          <a:p>
            <a:pPr algn="ctr">
              <a:spcAft>
                <a:spcPts val="200"/>
              </a:spcAft>
            </a:pPr>
            <a:r>
              <a:rPr b="0" sz="1100">
                <a:solidFill>
                  <a:srgbClr val="F0E6D2"/>
                </a:solidFill>
                <a:latin typeface="Segoe UI"/>
              </a:rPr>
              <a:t>write code + tests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304288" y="3200400"/>
            <a:ext cx="301752" cy="274320"/>
          </a:xfrm>
          <a:prstGeom prst="rightArrow">
            <a:avLst/>
          </a:prstGeom>
          <a:solidFill>
            <a:srgbClr val="C8A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97480" y="2788920"/>
            <a:ext cx="1965960" cy="1097280"/>
          </a:xfrm>
          <a:prstGeom prst="roundRect">
            <a:avLst/>
          </a:prstGeom>
          <a:solidFill>
            <a:srgbClr val="142A50"/>
          </a:solidFill>
          <a:ln w="15875">
            <a:solidFill>
              <a:srgbClr val="C8A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b="1" sz="1500">
                <a:solidFill>
                  <a:srgbClr val="C8AA6E"/>
                </a:solidFill>
                <a:latin typeface="Segoe UI"/>
              </a:rPr>
              <a:t>GitHub</a:t>
            </a:r>
          </a:p>
          <a:p>
            <a:pPr algn="ctr">
              <a:spcAft>
                <a:spcPts val="200"/>
              </a:spcAft>
            </a:pPr>
            <a:r>
              <a:rPr b="0" sz="1100">
                <a:solidFill>
                  <a:srgbClr val="F0E6D2"/>
                </a:solidFill>
                <a:latin typeface="Segoe UI"/>
              </a:rPr>
              <a:t>code + 4 branches</a:t>
            </a:r>
          </a:p>
          <a:p>
            <a:pPr algn="ctr">
              <a:spcAft>
                <a:spcPts val="200"/>
              </a:spcAft>
            </a:pPr>
            <a:r>
              <a:rPr b="0" sz="1100">
                <a:solidFill>
                  <a:srgbClr val="F0E6D2"/>
                </a:solidFill>
                <a:latin typeface="Segoe UI"/>
              </a:rPr>
              <a:t>feature→dev→staging→main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27448" y="3200400"/>
            <a:ext cx="301752" cy="274320"/>
          </a:xfrm>
          <a:prstGeom prst="rightArrow">
            <a:avLst/>
          </a:prstGeom>
          <a:solidFill>
            <a:srgbClr val="C8A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20640" y="2788920"/>
            <a:ext cx="2148840" cy="1097280"/>
          </a:xfrm>
          <a:prstGeom prst="roundRect">
            <a:avLst/>
          </a:prstGeom>
          <a:solidFill>
            <a:srgbClr val="0F2140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b="1" sz="1500">
                <a:solidFill>
                  <a:srgbClr val="3B82F6"/>
                </a:solidFill>
                <a:latin typeface="Segoe UI"/>
              </a:rPr>
              <a:t>GitHub Actions</a:t>
            </a:r>
          </a:p>
          <a:p>
            <a:pPr algn="ctr">
              <a:spcAft>
                <a:spcPts val="200"/>
              </a:spcAft>
            </a:pPr>
            <a:r>
              <a:rPr b="0" sz="1100">
                <a:solidFill>
                  <a:srgbClr val="F0E6D2"/>
                </a:solidFill>
                <a:latin typeface="Segoe UI"/>
              </a:rPr>
              <a:t>3 CI/CD pipelines</a:t>
            </a:r>
          </a:p>
          <a:p>
            <a:pPr algn="ctr">
              <a:spcAft>
                <a:spcPts val="200"/>
              </a:spcAft>
            </a:pPr>
            <a:r>
              <a:rPr b="0" sz="1100">
                <a:solidFill>
                  <a:srgbClr val="F0E6D2"/>
                </a:solidFill>
                <a:latin typeface="Segoe UI"/>
              </a:rPr>
              <a:t>test • build • gate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315200" y="3200400"/>
            <a:ext cx="301752" cy="274320"/>
          </a:xfrm>
          <a:prstGeom prst="rightArrow">
            <a:avLst/>
          </a:prstGeom>
          <a:solidFill>
            <a:srgbClr val="C8A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26679" y="2788920"/>
            <a:ext cx="2148840" cy="1097280"/>
          </a:xfrm>
          <a:prstGeom prst="roundRect">
            <a:avLst/>
          </a:prstGeom>
          <a:solidFill>
            <a:srgbClr val="0F2140"/>
          </a:solidFill>
          <a:ln w="15875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b="1" sz="1500">
                <a:solidFill>
                  <a:srgbClr val="3FB950"/>
                </a:solidFill>
                <a:latin typeface="Segoe UI"/>
              </a:rPr>
              <a:t>Render (cloud)</a:t>
            </a:r>
          </a:p>
          <a:p>
            <a:pPr algn="ctr">
              <a:spcAft>
                <a:spcPts val="200"/>
              </a:spcAft>
            </a:pPr>
            <a:r>
              <a:rPr b="0" sz="1100">
                <a:solidFill>
                  <a:srgbClr val="F0E6D2"/>
                </a:solidFill>
                <a:latin typeface="Segoe UI"/>
              </a:rPr>
              <a:t>Backend (Flask+model)</a:t>
            </a:r>
          </a:p>
          <a:p>
            <a:pPr algn="ctr">
              <a:spcAft>
                <a:spcPts val="200"/>
              </a:spcAft>
            </a:pPr>
            <a:r>
              <a:rPr b="0" sz="1100">
                <a:solidFill>
                  <a:srgbClr val="F0E6D2"/>
                </a:solidFill>
                <a:latin typeface="Segoe UI"/>
              </a:rPr>
              <a:t>Frontend (Next.js)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921240" y="3200400"/>
            <a:ext cx="274320" cy="274320"/>
          </a:xfrm>
          <a:prstGeom prst="rightArrow">
            <a:avLst/>
          </a:prstGeom>
          <a:solidFill>
            <a:srgbClr val="C8A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241280" y="2788920"/>
            <a:ext cx="1737360" cy="1097280"/>
          </a:xfrm>
          <a:prstGeom prst="roundRect">
            <a:avLst/>
          </a:prstGeom>
          <a:solidFill>
            <a:srgbClr val="142A50"/>
          </a:solidFill>
          <a:ln w="15875">
            <a:solidFill>
              <a:srgbClr val="C8A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b="1" sz="1500">
                <a:solidFill>
                  <a:srgbClr val="C8AA6E"/>
                </a:solidFill>
                <a:latin typeface="Segoe UI"/>
              </a:rPr>
              <a:t>Users</a:t>
            </a:r>
          </a:p>
          <a:p>
            <a:pPr algn="ctr">
              <a:spcAft>
                <a:spcPts val="200"/>
              </a:spcAft>
            </a:pPr>
            <a:r>
              <a:rPr b="0" sz="1100">
                <a:solidFill>
                  <a:srgbClr val="F0E6D2"/>
                </a:solidFill>
                <a:latin typeface="Segoe UI"/>
              </a:rPr>
              <a:t>public URL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1051560"/>
            <a:ext cx="2788920" cy="1051560"/>
          </a:xfrm>
          <a:prstGeom prst="roundRect">
            <a:avLst/>
          </a:prstGeom>
          <a:solidFill>
            <a:srgbClr val="0F2140"/>
          </a:solidFill>
          <a:ln w="15875">
            <a:solidFill>
              <a:srgbClr val="C8A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b="1" sz="1500">
                <a:solidFill>
                  <a:srgbClr val="C8AA6E"/>
                </a:solidFill>
                <a:latin typeface="Segoe UI"/>
              </a:rPr>
              <a:t>DagsHub</a:t>
            </a:r>
          </a:p>
          <a:p>
            <a:pPr algn="ctr">
              <a:spcAft>
                <a:spcPts val="200"/>
              </a:spcAft>
            </a:pPr>
            <a:r>
              <a:rPr b="0" sz="1100">
                <a:solidFill>
                  <a:srgbClr val="F0E6D2"/>
                </a:solidFill>
                <a:latin typeface="Segoe UI"/>
              </a:rPr>
              <a:t>MLflow registry + DVC data</a:t>
            </a:r>
          </a:p>
          <a:p>
            <a:pPr algn="ctr">
              <a:spcAft>
                <a:spcPts val="200"/>
              </a:spcAft>
            </a:pPr>
            <a:r>
              <a:rPr b="0" sz="1100">
                <a:solidFill>
                  <a:srgbClr val="F0E6D2"/>
                </a:solidFill>
                <a:latin typeface="Segoe UI"/>
              </a:rPr>
              <a:t>experiments • models • dataset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6309360" y="2103120"/>
            <a:ext cx="640080" cy="685800"/>
          </a:xfrm>
          <a:prstGeom prst="line">
            <a:avLst/>
          </a:prstGeom>
          <a:ln w="19050">
            <a:solidFill>
              <a:srgbClr val="C8A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229600" y="2103120"/>
            <a:ext cx="548640" cy="685800"/>
          </a:xfrm>
          <a:prstGeom prst="line">
            <a:avLst/>
          </a:prstGeom>
          <a:ln w="19050">
            <a:solidFill>
              <a:srgbClr val="C8A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726679" y="4526280"/>
            <a:ext cx="2148840" cy="1005840"/>
          </a:xfrm>
          <a:prstGeom prst="roundRect">
            <a:avLst/>
          </a:prstGeom>
          <a:solidFill>
            <a:srgbClr val="0F2140"/>
          </a:solidFill>
          <a:ln w="1587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b="1" sz="1500">
                <a:solidFill>
                  <a:srgbClr val="EF4444"/>
                </a:solidFill>
                <a:latin typeface="Segoe UI"/>
              </a:rPr>
              <a:t>Prometheus + Grafana</a:t>
            </a:r>
          </a:p>
          <a:p>
            <a:pPr algn="ctr">
              <a:spcAft>
                <a:spcPts val="200"/>
              </a:spcAft>
            </a:pPr>
            <a:r>
              <a:rPr b="0" sz="1100">
                <a:solidFill>
                  <a:srgbClr val="F0E6D2"/>
                </a:solidFill>
                <a:latin typeface="Segoe UI"/>
              </a:rPr>
              <a:t>live dashboards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8778240" y="3886200"/>
            <a:ext cx="0" cy="640080"/>
          </a:xfrm>
          <a:prstGeom prst="line">
            <a:avLst/>
          </a:prstGeom>
          <a:ln w="19050">
            <a:solidFill>
              <a:srgbClr val="C8A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69280" y="214884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B0D0"/>
                </a:solidFill>
                <a:latin typeface="Segoe UI"/>
              </a:rPr>
              <a:t>train • register • promote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214884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B0D0"/>
                </a:solidFill>
                <a:latin typeface="Segoe UI"/>
              </a:rPr>
              <a:t>serve Production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41605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B0D0"/>
                </a:solidFill>
                <a:latin typeface="Segoe UI"/>
              </a:rPr>
              <a:t>scrape /metrics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806440"/>
            <a:ext cx="11064240" cy="868680"/>
          </a:xfrm>
          <a:prstGeom prst="roundRect">
            <a:avLst/>
          </a:prstGeom>
          <a:solidFill>
            <a:srgbClr val="0F2140"/>
          </a:solidFill>
          <a:ln w="12700">
            <a:solidFill>
              <a:srgbClr val="244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897880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0E6D2"/>
                </a:solidFill>
                <a:latin typeface="Segoe UI"/>
              </a:rPr>
              <a:t>You push code → CI/CD tests it → it trains &amp; promotes the model on DagsHub only if the quality gate passes → it deploys to Render → users get predictions.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B0D0"/>
                </a:solidFill>
                <a:latin typeface="Segoe UI"/>
              </a:rPr>
              <a:t>Prometheus &amp; Grafana monitor the live production backend.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8AA6E"/>
                </a:solidFill>
                <a:latin typeface="Segoe UI"/>
              </a:rPr>
              <a:t>THE TWO HALVES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0E6D2"/>
                </a:solidFill>
                <a:latin typeface="Segoe UI"/>
              </a:rPr>
              <a:t>DevOps and MLOps — how they split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2011680" cy="38100"/>
          </a:xfrm>
          <a:prstGeom prst="rect">
            <a:avLst/>
          </a:prstGeom>
          <a:solidFill>
            <a:srgbClr val="C8A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120640" cy="4206240"/>
          </a:xfrm>
          <a:prstGeom prst="roundRect">
            <a:avLst/>
          </a:prstGeom>
          <a:solidFill>
            <a:srgbClr val="0F2140"/>
          </a:solidFill>
          <a:ln w="12700">
            <a:solidFill>
              <a:srgbClr val="244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3B82F6"/>
                </a:solidFill>
                <a:latin typeface="Segoe UI"/>
              </a:rPr>
              <a:t>DevOps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200" b="0">
                <a:solidFill>
                  <a:srgbClr val="9AB0D0"/>
                </a:solidFill>
                <a:latin typeface="Segoe UI"/>
              </a:rPr>
              <a:t>automating build, test &amp; delivery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F0E6D2"/>
                </a:solidFill>
                <a:latin typeface="Segoe UI"/>
              </a:rPr>
              <a:t>•  Tests (unit + integration + e2e)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F0E6D2"/>
                </a:solidFill>
                <a:latin typeface="Segoe UI"/>
              </a:rPr>
              <a:t>•  CI/CD (the 3 GitHub pipelines)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F0E6D2"/>
                </a:solidFill>
                <a:latin typeface="Segoe UI"/>
              </a:rPr>
              <a:t>•  Git hooks (checks before push)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F0E6D2"/>
                </a:solidFill>
                <a:latin typeface="Segoe UI"/>
              </a:rPr>
              <a:t>•  Docker (packaging)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F0E6D2"/>
                </a:solidFill>
                <a:latin typeface="Segoe UI"/>
              </a:rPr>
              <a:t>•  Auto-deploy to Render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F0E6D2"/>
                </a:solidFill>
                <a:latin typeface="Segoe UI"/>
              </a:rPr>
              <a:t>•  Monitoring (Prometheus / Grafana)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737360"/>
            <a:ext cx="5120640" cy="4206240"/>
          </a:xfrm>
          <a:prstGeom prst="roundRect">
            <a:avLst/>
          </a:prstGeom>
          <a:solidFill>
            <a:srgbClr val="0F2140"/>
          </a:solidFill>
          <a:ln w="12700">
            <a:solidFill>
              <a:srgbClr val="244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C8AA6E"/>
                </a:solidFill>
                <a:latin typeface="Segoe UI"/>
              </a:rPr>
              <a:t>MLOps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200" b="0">
                <a:solidFill>
                  <a:srgbClr val="9AB0D0"/>
                </a:solidFill>
                <a:latin typeface="Segoe UI"/>
              </a:rPr>
              <a:t>the same discipline, applied to data &amp; models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F0E6D2"/>
                </a:solidFill>
                <a:latin typeface="Segoe UI"/>
              </a:rPr>
              <a:t>•  DVC (versioning the data)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F0E6D2"/>
                </a:solidFill>
                <a:latin typeface="Segoe UI"/>
              </a:rPr>
              <a:t>•  MLflow (tracking + model registry)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F0E6D2"/>
                </a:solidFill>
                <a:latin typeface="Segoe UI"/>
              </a:rPr>
              <a:t>•  The quality gate + model promotion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F0E6D2"/>
                </a:solidFill>
                <a:latin typeface="Segoe UI"/>
              </a:rPr>
              <a:t>•  Serving the model from the registry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F0E6D2"/>
                </a:solidFill>
                <a:latin typeface="Segoe UI"/>
              </a:rPr>
              <a:t>•  Traceability: data version + git commit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F0E6D2"/>
                </a:solidFill>
                <a:latin typeface="Segoe UI"/>
              </a:rPr>
              <a:t>•  = DevOps + the AI-specific pieces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8AA6E"/>
                </a:solidFill>
                <a:latin typeface="Segoe UI"/>
              </a:rPr>
              <a:t>MLOps = DevOps extended to the model and the data, not just the code.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8AA6E"/>
                </a:solidFill>
                <a:latin typeface="Segoe UI"/>
              </a:rPr>
              <a:t>WHAT WE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0E6D2"/>
                </a:solidFill>
                <a:latin typeface="Segoe UI"/>
              </a:rPr>
              <a:t>The 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2011680" cy="38100"/>
          </a:xfrm>
          <a:prstGeom prst="rect">
            <a:avLst/>
          </a:prstGeom>
          <a:solidFill>
            <a:srgbClr val="C8A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3383280" cy="1051560"/>
          </a:xfrm>
          <a:prstGeom prst="roundRect">
            <a:avLst/>
          </a:prstGeom>
          <a:solidFill>
            <a:srgbClr val="0F2140"/>
          </a:solidFill>
          <a:ln w="12700">
            <a:solidFill>
              <a:srgbClr val="244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AB0D0"/>
                </a:solidFill>
                <a:latin typeface="Segoe UI"/>
              </a:rPr>
              <a:t>Frontend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C8AA6E"/>
                </a:solidFill>
                <a:latin typeface="Segoe UI"/>
              </a:rPr>
              <a:t>Next.js (React)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383280" cy="1051560"/>
          </a:xfrm>
          <a:prstGeom prst="roundRect">
            <a:avLst/>
          </a:prstGeom>
          <a:solidFill>
            <a:srgbClr val="0F2140"/>
          </a:solidFill>
          <a:ln w="12700">
            <a:solidFill>
              <a:srgbClr val="244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AB0D0"/>
                </a:solidFill>
                <a:latin typeface="Segoe UI"/>
              </a:rPr>
              <a:t>Backend / API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C8AA6E"/>
                </a:solidFill>
                <a:latin typeface="Segoe UI"/>
              </a:rPr>
              <a:t>Python + Flask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011680"/>
            <a:ext cx="3383280" cy="1051560"/>
          </a:xfrm>
          <a:prstGeom prst="roundRect">
            <a:avLst/>
          </a:prstGeom>
          <a:solidFill>
            <a:srgbClr val="0F2140"/>
          </a:solidFill>
          <a:ln w="12700">
            <a:solidFill>
              <a:srgbClr val="244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AB0D0"/>
                </a:solidFill>
                <a:latin typeface="Segoe UI"/>
              </a:rPr>
              <a:t>ML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C8AA6E"/>
                </a:solidFill>
                <a:latin typeface="Segoe UI"/>
              </a:rPr>
              <a:t>scikit-learn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46120"/>
            <a:ext cx="3383280" cy="1051560"/>
          </a:xfrm>
          <a:prstGeom prst="roundRect">
            <a:avLst/>
          </a:prstGeom>
          <a:solidFill>
            <a:srgbClr val="142A50"/>
          </a:solidFill>
          <a:ln w="12700">
            <a:solidFill>
              <a:srgbClr val="244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AB0D0"/>
                </a:solidFill>
                <a:latin typeface="Segoe UI"/>
              </a:rPr>
              <a:t>Data versioning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C8AA6E"/>
                </a:solidFill>
                <a:latin typeface="Segoe UI"/>
              </a:rPr>
              <a:t>DVC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246120"/>
            <a:ext cx="3383280" cy="1051560"/>
          </a:xfrm>
          <a:prstGeom prst="roundRect">
            <a:avLst/>
          </a:prstGeom>
          <a:solidFill>
            <a:srgbClr val="142A50"/>
          </a:solidFill>
          <a:ln w="12700">
            <a:solidFill>
              <a:srgbClr val="244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AB0D0"/>
                </a:solidFill>
                <a:latin typeface="Segoe UI"/>
              </a:rPr>
              <a:t>Experiments &amp; registry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C8AA6E"/>
                </a:solidFill>
                <a:latin typeface="Segoe UI"/>
              </a:rPr>
              <a:t>MLflow + DagsHub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246120"/>
            <a:ext cx="3383280" cy="1051560"/>
          </a:xfrm>
          <a:prstGeom prst="roundRect">
            <a:avLst/>
          </a:prstGeom>
          <a:solidFill>
            <a:srgbClr val="142A50"/>
          </a:solidFill>
          <a:ln w="12700">
            <a:solidFill>
              <a:srgbClr val="244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AB0D0"/>
                </a:solidFill>
                <a:latin typeface="Segoe UI"/>
              </a:rPr>
              <a:t>Packaging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C8AA6E"/>
                </a:solidFill>
                <a:latin typeface="Segoe UI"/>
              </a:rPr>
              <a:t>Docker + docker-compose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80560"/>
            <a:ext cx="3383280" cy="1051560"/>
          </a:xfrm>
          <a:prstGeom prst="roundRect">
            <a:avLst/>
          </a:prstGeom>
          <a:solidFill>
            <a:srgbClr val="0F2140"/>
          </a:solidFill>
          <a:ln w="12700">
            <a:solidFill>
              <a:srgbClr val="244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AB0D0"/>
                </a:solidFill>
                <a:latin typeface="Segoe UI"/>
              </a:rPr>
              <a:t>CI/CD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C8AA6E"/>
                </a:solidFill>
                <a:latin typeface="Segoe UI"/>
              </a:rPr>
              <a:t>GitHub Actions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4480560"/>
            <a:ext cx="3383280" cy="1051560"/>
          </a:xfrm>
          <a:prstGeom prst="roundRect">
            <a:avLst/>
          </a:prstGeom>
          <a:solidFill>
            <a:srgbClr val="0F2140"/>
          </a:solidFill>
          <a:ln w="12700">
            <a:solidFill>
              <a:srgbClr val="244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AB0D0"/>
                </a:solidFill>
                <a:latin typeface="Segoe UI"/>
              </a:rPr>
              <a:t>Monitoring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C8AA6E"/>
                </a:solidFill>
                <a:latin typeface="Segoe UI"/>
              </a:rPr>
              <a:t>Prometheus + Grafana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4480560"/>
            <a:ext cx="3383280" cy="1051560"/>
          </a:xfrm>
          <a:prstGeom prst="roundRect">
            <a:avLst/>
          </a:prstGeom>
          <a:solidFill>
            <a:srgbClr val="0F2140"/>
          </a:solidFill>
          <a:ln w="12700">
            <a:solidFill>
              <a:srgbClr val="244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AB0D0"/>
                </a:solidFill>
                <a:latin typeface="Segoe UI"/>
              </a:rPr>
              <a:t>Cloud hosting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C8AA6E"/>
                </a:solidFill>
                <a:latin typeface="Segoe UI"/>
              </a:rPr>
              <a:t>Render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8AA6E"/>
                </a:solidFill>
                <a:latin typeface="Segoe UI"/>
              </a:rPr>
              <a:t>MLOPS —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0E6D2"/>
                </a:solidFill>
                <a:latin typeface="Segoe UI"/>
              </a:rPr>
              <a:t>Data versioning with DVC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2011680" cy="38100"/>
          </a:xfrm>
          <a:prstGeom prst="rect">
            <a:avLst/>
          </a:prstGeom>
          <a:solidFill>
            <a:srgbClr val="C8A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F0E6D2"/>
                </a:solidFill>
                <a:latin typeface="Segoe UI"/>
              </a:rPr>
              <a:t>•  The real Kaggle dataset: 9,879 Diamond-ranked LoL games (first 10 min).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9AB0D0"/>
                </a:solidFill>
                <a:latin typeface="Segoe UI"/>
              </a:rPr>
              <a:t>•  Git is great for code, but not for large data files. DVC versions the data: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9AB0D0"/>
                </a:solidFill>
                <a:latin typeface="Segoe UI"/>
              </a:rPr>
              <a:t>•  Git stores a tiny pointer; the actual dataset lives in remote storage (DagsHub).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9AB0D0"/>
                </a:solidFill>
                <a:latin typeface="Segoe UI"/>
              </a:rPr>
              <a:t>•  Every training run records which data version + which git commit produced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206240"/>
            <a:ext cx="10515600" cy="1737360"/>
          </a:xfrm>
          <a:prstGeom prst="roundRect">
            <a:avLst/>
          </a:prstGeom>
          <a:solidFill>
            <a:srgbClr val="0F2140"/>
          </a:solidFill>
          <a:ln w="12700">
            <a:solidFill>
              <a:srgbClr val="244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389120"/>
            <a:ext cx="100584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C8AA6E"/>
                </a:solidFill>
                <a:latin typeface="Segoe UI"/>
              </a:rPr>
              <a:t>Why it matters: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0E6D2"/>
                </a:solidFill>
                <a:latin typeface="Segoe UI"/>
              </a:rPr>
              <a:t>Reproducibility. Six months later, we can rebuild the exact model from the exact data — and prove which dataset any deployed model was trained 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8AA6E"/>
                </a:solidFill>
                <a:latin typeface="Segoe UI"/>
              </a:rPr>
              <a:t>MLOPS —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0E6D2"/>
                </a:solidFill>
                <a:latin typeface="Segoe UI"/>
              </a:rPr>
              <a:t>Model tracking &amp; registry with MLflow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2011680" cy="38100"/>
          </a:xfrm>
          <a:prstGeom prst="rect">
            <a:avLst/>
          </a:prstGeom>
          <a:solidFill>
            <a:srgbClr val="C8A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F0E6D2"/>
                </a:solidFill>
                <a:latin typeface="Segoe UI"/>
              </a:rPr>
              <a:t>•  Every training run logs its parameters, metrics, data version and git commit.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9AB0D0"/>
                </a:solidFill>
                <a:latin typeface="Segoe UI"/>
              </a:rPr>
              <a:t>•  The Model Registry is the single source of truth for what is deployed.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9AB0D0"/>
                </a:solidFill>
                <a:latin typeface="Segoe UI"/>
              </a:rPr>
              <a:t>•  Models move through stages: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3566160"/>
            <a:ext cx="2926080" cy="1005840"/>
          </a:xfrm>
          <a:prstGeom prst="roundRect">
            <a:avLst/>
          </a:prstGeom>
          <a:solidFill>
            <a:srgbClr val="0F2140"/>
          </a:solidFill>
          <a:ln w="15875">
            <a:solidFill>
              <a:srgbClr val="C8A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b="1" sz="1700">
                <a:solidFill>
                  <a:srgbClr val="C8AA6E"/>
                </a:solidFill>
                <a:latin typeface="Segoe UI"/>
              </a:rPr>
              <a:t>Staging</a:t>
            </a:r>
          </a:p>
          <a:p>
            <a:pPr algn="ctr">
              <a:spcAft>
                <a:spcPts val="200"/>
              </a:spcAft>
            </a:pPr>
            <a:r>
              <a:rPr b="0" sz="1100">
                <a:solidFill>
                  <a:srgbClr val="F0E6D2"/>
                </a:solidFill>
                <a:latin typeface="Segoe UI"/>
              </a:rPr>
              <a:t>candidate model</a:t>
            </a:r>
          </a:p>
          <a:p>
            <a:pPr algn="ctr">
              <a:spcAft>
                <a:spcPts val="200"/>
              </a:spcAft>
            </a:pPr>
            <a:r>
              <a:rPr b="0" sz="1100">
                <a:solidFill>
                  <a:srgbClr val="F0E6D2"/>
                </a:solidFill>
                <a:latin typeface="Segoe UI"/>
              </a:rPr>
              <a:t>under validation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69080" y="3931920"/>
            <a:ext cx="457200" cy="274320"/>
          </a:xfrm>
          <a:prstGeom prst="rightArrow">
            <a:avLst/>
          </a:prstGeom>
          <a:solidFill>
            <a:srgbClr val="C8A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09160" y="3566160"/>
            <a:ext cx="2926080" cy="1005840"/>
          </a:xfrm>
          <a:prstGeom prst="roundRect">
            <a:avLst/>
          </a:prstGeom>
          <a:solidFill>
            <a:srgbClr val="0F2140"/>
          </a:solidFill>
          <a:ln w="15875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b="1" sz="1700">
                <a:solidFill>
                  <a:srgbClr val="3FB950"/>
                </a:solidFill>
                <a:latin typeface="Segoe UI"/>
              </a:rPr>
              <a:t>Production</a:t>
            </a:r>
          </a:p>
          <a:p>
            <a:pPr algn="ctr">
              <a:spcAft>
                <a:spcPts val="200"/>
              </a:spcAft>
            </a:pPr>
            <a:r>
              <a:rPr b="0" sz="1100">
                <a:solidFill>
                  <a:srgbClr val="F0E6D2"/>
                </a:solidFill>
                <a:latin typeface="Segoe UI"/>
              </a:rPr>
              <a:t>the model users get</a:t>
            </a:r>
          </a:p>
          <a:p>
            <a:pPr algn="ctr">
              <a:spcAft>
                <a:spcPts val="200"/>
              </a:spcAft>
            </a:pPr>
            <a:r>
              <a:rPr b="0" sz="1100">
                <a:solidFill>
                  <a:srgbClr val="F0E6D2"/>
                </a:solidFill>
                <a:latin typeface="Segoe UI"/>
              </a:rPr>
              <a:t>served live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3566160"/>
            <a:ext cx="2834640" cy="1005840"/>
          </a:xfrm>
          <a:prstGeom prst="roundRect">
            <a:avLst/>
          </a:prstGeom>
          <a:solidFill>
            <a:srgbClr val="142A50"/>
          </a:solidFill>
          <a:ln w="15875">
            <a:solidFill>
              <a:srgbClr val="244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b="1" sz="1700">
                <a:solidFill>
                  <a:srgbClr val="9AB0D0"/>
                </a:solidFill>
                <a:latin typeface="Segoe UI"/>
              </a:rPr>
              <a:t>Archived</a:t>
            </a:r>
          </a:p>
          <a:p>
            <a:pPr algn="ctr">
              <a:spcAft>
                <a:spcPts val="200"/>
              </a:spcAft>
            </a:pPr>
            <a:r>
              <a:rPr b="0" sz="1100">
                <a:solidFill>
                  <a:srgbClr val="F0E6D2"/>
                </a:solidFill>
                <a:latin typeface="Segoe UI"/>
              </a:rPr>
              <a:t>previous versions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292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0E6D2"/>
                </a:solidFill>
                <a:latin typeface="Segoe UI"/>
              </a:rPr>
              <a:t>Production serves the "Production" model ONLY. A new model becomes Production only after passing the quality gate (next slide).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8AA6E"/>
                </a:solidFill>
                <a:latin typeface="Segoe UI"/>
              </a:rPr>
              <a:t>DEVOPS —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0E6D2"/>
                </a:solidFill>
                <a:latin typeface="Segoe UI"/>
              </a:rPr>
              <a:t>Strict Git branching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2011680" cy="38100"/>
          </a:xfrm>
          <a:prstGeom prst="rect">
            <a:avLst/>
          </a:prstGeom>
          <a:solidFill>
            <a:srgbClr val="C8A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468880"/>
            <a:ext cx="2468880" cy="1188720"/>
          </a:xfrm>
          <a:prstGeom prst="roundRect">
            <a:avLst/>
          </a:prstGeom>
          <a:solidFill>
            <a:srgbClr val="0F2140"/>
          </a:solidFill>
          <a:ln w="15875">
            <a:solidFill>
              <a:srgbClr val="9AB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b="1" sz="1800">
                <a:solidFill>
                  <a:srgbClr val="9AB0D0"/>
                </a:solidFill>
                <a:latin typeface="Segoe UI"/>
              </a:rPr>
              <a:t>feature/*</a:t>
            </a:r>
          </a:p>
          <a:p>
            <a:pPr algn="ctr">
              <a:spcAft>
                <a:spcPts val="200"/>
              </a:spcAft>
            </a:pPr>
            <a:r>
              <a:rPr b="0" sz="1200">
                <a:solidFill>
                  <a:srgbClr val="F0E6D2"/>
                </a:solidFill>
                <a:latin typeface="Segoe UI"/>
              </a:rPr>
              <a:t>where you develop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035808" y="2971800"/>
            <a:ext cx="347472" cy="274320"/>
          </a:xfrm>
          <a:prstGeom prst="rightArrow">
            <a:avLst/>
          </a:prstGeom>
          <a:solidFill>
            <a:srgbClr val="C8A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29000" y="2468880"/>
            <a:ext cx="2468880" cy="1188720"/>
          </a:xfrm>
          <a:prstGeom prst="roundRect">
            <a:avLst/>
          </a:prstGeom>
          <a:solidFill>
            <a:srgbClr val="0F2140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b="1" sz="1800">
                <a:solidFill>
                  <a:srgbClr val="3B82F6"/>
                </a:solidFill>
                <a:latin typeface="Segoe UI"/>
              </a:rPr>
              <a:t>dev</a:t>
            </a:r>
          </a:p>
          <a:p>
            <a:pPr algn="ctr">
              <a:spcAft>
                <a:spcPts val="200"/>
              </a:spcAft>
            </a:pPr>
            <a:r>
              <a:rPr b="0" sz="1200">
                <a:solidFill>
                  <a:srgbClr val="F0E6D2"/>
                </a:solidFill>
                <a:latin typeface="Segoe UI"/>
              </a:rPr>
              <a:t>integration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16168" y="2971800"/>
            <a:ext cx="347472" cy="274320"/>
          </a:xfrm>
          <a:prstGeom prst="rightArrow">
            <a:avLst/>
          </a:prstGeom>
          <a:solidFill>
            <a:srgbClr val="C8A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59" y="2468880"/>
            <a:ext cx="2468880" cy="1188720"/>
          </a:xfrm>
          <a:prstGeom prst="roundRect">
            <a:avLst/>
          </a:prstGeom>
          <a:solidFill>
            <a:srgbClr val="0F2140"/>
          </a:solidFill>
          <a:ln w="15875">
            <a:solidFill>
              <a:srgbClr val="C8A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b="1" sz="1800">
                <a:solidFill>
                  <a:srgbClr val="C8AA6E"/>
                </a:solidFill>
                <a:latin typeface="Segoe UI"/>
              </a:rPr>
              <a:t>staging</a:t>
            </a:r>
          </a:p>
          <a:p>
            <a:pPr algn="ctr">
              <a:spcAft>
                <a:spcPts val="200"/>
              </a:spcAft>
            </a:pPr>
            <a:r>
              <a:rPr b="0" sz="1200">
                <a:solidFill>
                  <a:srgbClr val="F0E6D2"/>
                </a:solidFill>
                <a:latin typeface="Segoe UI"/>
              </a:rPr>
              <a:t>pre-production validation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96528" y="2971800"/>
            <a:ext cx="347472" cy="274320"/>
          </a:xfrm>
          <a:prstGeom prst="rightArrow">
            <a:avLst/>
          </a:prstGeom>
          <a:solidFill>
            <a:srgbClr val="C8A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89719" y="2468880"/>
            <a:ext cx="2468880" cy="1188720"/>
          </a:xfrm>
          <a:prstGeom prst="roundRect">
            <a:avLst/>
          </a:prstGeom>
          <a:solidFill>
            <a:srgbClr val="0F2140"/>
          </a:solidFill>
          <a:ln w="15875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b="1" sz="1800">
                <a:solidFill>
                  <a:srgbClr val="3FB950"/>
                </a:solidFill>
                <a:latin typeface="Segoe UI"/>
              </a:rPr>
              <a:t>main</a:t>
            </a:r>
          </a:p>
          <a:p>
            <a:pPr algn="ctr">
              <a:spcAft>
                <a:spcPts val="200"/>
              </a:spcAft>
            </a:pPr>
            <a:r>
              <a:rPr b="0" sz="1200">
                <a:solidFill>
                  <a:srgbClr val="F0E6D2"/>
                </a:solidFill>
                <a:latin typeface="Segoe UI"/>
              </a:rPr>
              <a:t>production (live)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0624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C8AA6E"/>
                </a:solidFill>
                <a:latin typeface="Segoe UI"/>
              </a:rPr>
              <a:t>Each arrow triggers one of our CI/CD pipelines automatically: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0E6D2"/>
                </a:solidFill>
                <a:latin typeface="Segoe UI"/>
              </a:rPr>
              <a:t>Code only reaches production by travelling feature → dev → staging → main,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0E6D2"/>
                </a:solidFill>
                <a:latin typeface="Segoe UI"/>
              </a:rPr>
              <a:t>passing automated checks at every step. Nothing is deployed by hand.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8AA6E"/>
                </a:solidFill>
                <a:latin typeface="Segoe UI"/>
              </a:rPr>
              <a:t>DEVOPS —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0E6D2"/>
                </a:solidFill>
                <a:latin typeface="Segoe UI"/>
              </a:rPr>
              <a:t>The 3 CI/CD pipelines (we wrote them)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2011680" cy="38100"/>
          </a:xfrm>
          <a:prstGeom prst="rect">
            <a:avLst/>
          </a:prstGeom>
          <a:solidFill>
            <a:srgbClr val="C8A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B0D0"/>
                </a:solidFill>
                <a:latin typeface="Segoe UI"/>
              </a:rPr>
              <a:t>GitHub provides the robot (GitHub Actions); we wrote its instructions in .github/workflows/.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83280" cy="3657600"/>
          </a:xfrm>
          <a:prstGeom prst="roundRect">
            <a:avLst/>
          </a:prstGeom>
          <a:solidFill>
            <a:srgbClr val="0F2140"/>
          </a:solidFill>
          <a:ln w="12700">
            <a:solidFill>
              <a:srgbClr val="244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3B82F6"/>
                </a:solidFill>
                <a:latin typeface="Segoe UI"/>
              </a:rPr>
              <a:t>PR → dev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F0E6D2"/>
                </a:solidFill>
                <a:latin typeface="Segoe UI"/>
              </a:rPr>
              <a:t>•  Lint the code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F0E6D2"/>
                </a:solidFill>
                <a:latin typeface="Segoe UI"/>
              </a:rPr>
              <a:t>•  Run unit tests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F0E6D2"/>
                </a:solidFill>
                <a:latin typeface="Segoe UI"/>
              </a:rPr>
              <a:t>•  Run integration tests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F0E6D2"/>
                </a:solidFill>
                <a:latin typeface="Segoe UI"/>
              </a:rPr>
              <a:t>•  Build Docker images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148840"/>
            <a:ext cx="3383280" cy="3657600"/>
          </a:xfrm>
          <a:prstGeom prst="roundRect">
            <a:avLst/>
          </a:prstGeom>
          <a:solidFill>
            <a:srgbClr val="0F2140"/>
          </a:solidFill>
          <a:ln w="12700">
            <a:solidFill>
              <a:srgbClr val="244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C8AA6E"/>
                </a:solidFill>
                <a:latin typeface="Segoe UI"/>
              </a:rPr>
              <a:t>dev → staging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F0E6D2"/>
                </a:solidFill>
                <a:latin typeface="Segoe UI"/>
              </a:rPr>
              <a:t>•  Full test suite + e2e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F0E6D2"/>
                </a:solidFill>
                <a:latin typeface="Segoe UI"/>
              </a:rPr>
              <a:t>•  Train a candidate model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F0E6D2"/>
                </a:solidFill>
                <a:latin typeface="Segoe UI"/>
              </a:rPr>
              <a:t>•  Register it as 'Staging'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148840"/>
            <a:ext cx="3383280" cy="3657600"/>
          </a:xfrm>
          <a:prstGeom prst="roundRect">
            <a:avLst/>
          </a:prstGeom>
          <a:solidFill>
            <a:srgbClr val="0F2140"/>
          </a:solidFill>
          <a:ln w="12700">
            <a:solidFill>
              <a:srgbClr val="244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3FB950"/>
                </a:solidFill>
                <a:latin typeface="Segoe UI"/>
              </a:rPr>
              <a:t>staging → main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F0E6D2"/>
                </a:solidFill>
                <a:latin typeface="Segoe UI"/>
              </a:rPr>
              <a:t>•  Quality gate check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F0E6D2"/>
                </a:solidFill>
                <a:latin typeface="Segoe UI"/>
              </a:rPr>
              <a:t>•  Promote model to Production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F0E6D2"/>
                </a:solidFill>
                <a:latin typeface="Segoe UI"/>
              </a:rPr>
              <a:t>•  Auto-deploy to Render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FB950"/>
                </a:solidFill>
                <a:latin typeface="Segoe UI"/>
              </a:rPr>
              <a:t>All three are currently green in CI.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8AA6E"/>
                </a:solidFill>
                <a:latin typeface="Segoe UI"/>
              </a:rPr>
              <a:t>THE CORE REQUIREMENT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0E6D2"/>
                </a:solidFill>
                <a:latin typeface="Segoe UI"/>
              </a:rPr>
              <a:t>The quality gate &amp; model promotion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2011680" cy="38100"/>
          </a:xfrm>
          <a:prstGeom prst="rect">
            <a:avLst/>
          </a:prstGeom>
          <a:solidFill>
            <a:srgbClr val="C8A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AB0D0"/>
                </a:solidFill>
                <a:latin typeface="Segoe UI"/>
              </a:rPr>
              <a:t>When we push to main, the pipeline decides whether the new model is allowed into production: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286000"/>
            <a:ext cx="3200400" cy="868680"/>
          </a:xfrm>
          <a:prstGeom prst="roundRect">
            <a:avLst/>
          </a:prstGeom>
          <a:solidFill>
            <a:srgbClr val="0F2140"/>
          </a:solidFill>
          <a:ln w="15875">
            <a:solidFill>
              <a:srgbClr val="C8A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b="1" sz="1500">
                <a:solidFill>
                  <a:srgbClr val="C8AA6E"/>
                </a:solidFill>
                <a:latin typeface="Segoe UI"/>
              </a:rPr>
              <a:t>Train candidate</a:t>
            </a:r>
          </a:p>
          <a:p>
            <a:pPr algn="ctr">
              <a:spcAft>
                <a:spcPts val="200"/>
              </a:spcAft>
            </a:pPr>
            <a:r>
              <a:rPr b="0" sz="1100">
                <a:solidFill>
                  <a:srgbClr val="F0E6D2"/>
                </a:solidFill>
                <a:latin typeface="Segoe UI"/>
              </a:rPr>
              <a:t>evaluate accuracy</a:t>
            </a:r>
          </a:p>
        </p:txBody>
      </p:sp>
      <p:sp>
        <p:nvSpPr>
          <p:cNvPr id="7" name="Down Arrow 6"/>
          <p:cNvSpPr/>
          <p:nvPr/>
        </p:nvSpPr>
        <p:spPr>
          <a:xfrm>
            <a:off x="5852160" y="3200400"/>
            <a:ext cx="320040" cy="320040"/>
          </a:xfrm>
          <a:prstGeom prst="downArrow">
            <a:avLst/>
          </a:prstGeom>
          <a:solidFill>
            <a:srgbClr val="C8A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23360" y="3611880"/>
            <a:ext cx="4114800" cy="868680"/>
          </a:xfrm>
          <a:prstGeom prst="roundRect">
            <a:avLst/>
          </a:prstGeom>
          <a:solidFill>
            <a:srgbClr val="0F2140"/>
          </a:solidFill>
          <a:ln w="15875">
            <a:solidFill>
              <a:srgbClr val="C8A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b="1" sz="1500">
                <a:solidFill>
                  <a:srgbClr val="C8AA6E"/>
                </a:solidFill>
                <a:latin typeface="Segoe UI"/>
              </a:rPr>
              <a:t>Quality gate: accuracy ≥ 70% ?</a:t>
            </a:r>
          </a:p>
        </p:txBody>
      </p:sp>
      <p:sp>
        <p:nvSpPr>
          <p:cNvPr id="9" name="Left Arrow 8"/>
          <p:cNvSpPr/>
          <p:nvPr/>
        </p:nvSpPr>
        <p:spPr>
          <a:xfrm>
            <a:off x="3383280" y="4069080"/>
            <a:ext cx="548640" cy="292608"/>
          </a:xfrm>
          <a:prstGeom prst="leftArrow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4663440"/>
            <a:ext cx="3108960" cy="1005840"/>
          </a:xfrm>
          <a:prstGeom prst="roundRect">
            <a:avLst/>
          </a:prstGeom>
          <a:solidFill>
            <a:srgbClr val="0F2140"/>
          </a:solidFill>
          <a:ln w="15875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b="1" sz="1600">
                <a:solidFill>
                  <a:srgbClr val="3FB950"/>
                </a:solidFill>
                <a:latin typeface="Segoe UI"/>
              </a:rPr>
              <a:t>PASS</a:t>
            </a:r>
          </a:p>
          <a:p>
            <a:pPr algn="ctr">
              <a:spcAft>
                <a:spcPts val="200"/>
              </a:spcAft>
            </a:pPr>
            <a:r>
              <a:rPr b="0" sz="1100">
                <a:solidFill>
                  <a:srgbClr val="F0E6D2"/>
                </a:solidFill>
                <a:latin typeface="Segoe UI"/>
              </a:rPr>
              <a:t>promote to Production</a:t>
            </a:r>
          </a:p>
          <a:p>
            <a:pPr algn="ctr">
              <a:spcAft>
                <a:spcPts val="200"/>
              </a:spcAft>
            </a:pPr>
            <a:r>
              <a:rPr b="0" sz="1100">
                <a:solidFill>
                  <a:srgbClr val="F0E6D2"/>
                </a:solidFill>
                <a:latin typeface="Segoe UI"/>
              </a:rPr>
              <a:t>+ deploy to Render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194560" y="4480560"/>
            <a:ext cx="2377440" cy="182880"/>
          </a:xfrm>
          <a:prstGeom prst="line">
            <a:avLst/>
          </a:prstGeom>
          <a:ln w="19050">
            <a:solidFill>
              <a:srgbClr val="3FB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ight Arrow 11"/>
          <p:cNvSpPr/>
          <p:nvPr/>
        </p:nvSpPr>
        <p:spPr>
          <a:xfrm>
            <a:off x="8229600" y="4069080"/>
            <a:ext cx="548640" cy="292608"/>
          </a:xfrm>
          <a:prstGeom prst="rightArrow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0" y="4663440"/>
            <a:ext cx="3017520" cy="1005840"/>
          </a:xfrm>
          <a:prstGeom prst="roundRect">
            <a:avLst/>
          </a:prstGeom>
          <a:solidFill>
            <a:srgbClr val="0F2140"/>
          </a:solidFill>
          <a:ln w="1587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b="1" sz="1600">
                <a:solidFill>
                  <a:srgbClr val="EF4444"/>
                </a:solidFill>
                <a:latin typeface="Segoe UI"/>
              </a:rPr>
              <a:t>FAIL</a:t>
            </a:r>
          </a:p>
          <a:p>
            <a:pPr algn="ctr">
              <a:spcAft>
                <a:spcPts val="200"/>
              </a:spcAft>
            </a:pPr>
            <a:r>
              <a:rPr b="0" sz="1100">
                <a:solidFill>
                  <a:srgbClr val="F0E6D2"/>
                </a:solidFill>
                <a:latin typeface="Segoe UI"/>
              </a:rPr>
              <a:t>stays in Staging</a:t>
            </a:r>
          </a:p>
          <a:p>
            <a:pPr algn="ctr">
              <a:spcAft>
                <a:spcPts val="200"/>
              </a:spcAft>
            </a:pPr>
            <a:r>
              <a:rPr b="0" sz="1100">
                <a:solidFill>
                  <a:srgbClr val="F0E6D2"/>
                </a:solidFill>
                <a:latin typeface="Segoe UI"/>
              </a:rPr>
              <a:t>production unchanged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589520" y="4480560"/>
            <a:ext cx="2560320" cy="182880"/>
          </a:xfrm>
          <a:prstGeom prst="line">
            <a:avLst/>
          </a:prstGeom>
          <a:ln w="1905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8AA6E"/>
                </a:solidFill>
                <a:latin typeface="Segoe UI"/>
              </a:rPr>
              <a:t>A bad model can never reach users. This is what makes updating the AI safe.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8AA6E"/>
                </a:solidFill>
                <a:latin typeface="Segoe UI"/>
              </a:rPr>
              <a:t>DEVOPS —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0E6D2"/>
                </a:solidFill>
                <a:latin typeface="Segoe UI"/>
              </a:rPr>
              <a:t>Testing — the pyramid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2011680" cy="38100"/>
          </a:xfrm>
          <a:prstGeom prst="rect">
            <a:avLst/>
          </a:prstGeom>
          <a:solidFill>
            <a:srgbClr val="C8A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267047" y="2194560"/>
            <a:ext cx="3657600" cy="1051560"/>
          </a:xfrm>
          <a:prstGeom prst="roundRect">
            <a:avLst/>
          </a:prstGeom>
          <a:solidFill>
            <a:srgbClr val="0F2140"/>
          </a:solidFill>
          <a:ln w="1587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b="1" sz="1700">
                <a:solidFill>
                  <a:srgbClr val="EF4444"/>
                </a:solidFill>
                <a:latin typeface="Segoe UI"/>
              </a:rPr>
              <a:t>End-to-end 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B0D0"/>
                </a:solidFill>
                <a:latin typeface="Segoe UI"/>
              </a:rPr>
              <a:t>A real browser fills the form and gets a real prediction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95447" y="3657600"/>
            <a:ext cx="6400800" cy="1051560"/>
          </a:xfrm>
          <a:prstGeom prst="roundRect">
            <a:avLst/>
          </a:prstGeom>
          <a:solidFill>
            <a:srgbClr val="0F2140"/>
          </a:solidFill>
          <a:ln w="15875">
            <a:solidFill>
              <a:srgbClr val="C8A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b="1" sz="1700">
                <a:solidFill>
                  <a:srgbClr val="C8AA6E"/>
                </a:solidFill>
                <a:latin typeface="Segoe UI"/>
              </a:rPr>
              <a:t>Integration (2)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79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B0D0"/>
                </a:solidFill>
                <a:latin typeface="Segoe UI"/>
              </a:rPr>
              <a:t>The Flask API + the loaded model work together (/health, /predict)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23847" y="5120640"/>
            <a:ext cx="9144000" cy="1051560"/>
          </a:xfrm>
          <a:prstGeom prst="roundRect">
            <a:avLst/>
          </a:prstGeom>
          <a:solidFill>
            <a:srgbClr val="0F2140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b="1" sz="1700">
                <a:solidFill>
                  <a:srgbClr val="3B82F6"/>
                </a:solidFill>
                <a:latin typeface="Segoe UI"/>
              </a:rPr>
              <a:t>Unit (3+)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217919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B0D0"/>
                </a:solidFill>
                <a:latin typeface="Segoe UI"/>
              </a:rPr>
              <a:t>Small pure functions in isolation (feature builder, quality gate…)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893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FB950"/>
                </a:solidFill>
                <a:latin typeface="Segoe UI"/>
              </a:rPr>
              <a:t>All of these run automatically in CI on every pull request.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8AA6E"/>
                </a:solidFill>
                <a:latin typeface="Segoe UI"/>
              </a:rPr>
              <a:t>DEVOPS — 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0E6D2"/>
                </a:solidFill>
                <a:latin typeface="Segoe UI"/>
              </a:rPr>
              <a:t>Docker — the same everywhere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2011680" cy="38100"/>
          </a:xfrm>
          <a:prstGeom prst="rect">
            <a:avLst/>
          </a:prstGeom>
          <a:solidFill>
            <a:srgbClr val="C8A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F0E6D2"/>
                </a:solidFill>
                <a:latin typeface="Segoe UI"/>
              </a:rPr>
              <a:t>•  Each service (backend, frontend, trainer) has a Dockerfile: a recipe that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9AB0D0"/>
                </a:solidFill>
                <a:latin typeface="Segoe UI"/>
              </a:rPr>
              <a:t>•  packages the app with everything it needs — no more "works on my machine".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9AB0D0"/>
                </a:solidFill>
                <a:latin typeface="Segoe UI"/>
              </a:rPr>
              <a:t>•  Render builds and runs these exact images — your live app runs inside Docker right now.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9AB0D0"/>
                </a:solidFill>
                <a:latin typeface="Segoe UI"/>
              </a:rPr>
              <a:t>•  docker-compose runs the whole stack locally with one command.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114800"/>
            <a:ext cx="10515600" cy="1828800"/>
          </a:xfrm>
          <a:prstGeom prst="roundRect">
            <a:avLst/>
          </a:prstGeom>
          <a:solidFill>
            <a:srgbClr val="0F2140"/>
          </a:solidFill>
          <a:ln w="12700">
            <a:solidFill>
              <a:srgbClr val="244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97680"/>
            <a:ext cx="1005840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C8AA6E"/>
                </a:solidFill>
                <a:latin typeface="Segoe UI"/>
              </a:rPr>
              <a:t>backend/Dockerfile, in plain English: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F0E6D2"/>
                </a:solidFill>
                <a:latin typeface="Segoe UI"/>
              </a:rPr>
              <a:t>"Start from Python → install my libraries → copy my code → launch the web server."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B0D0"/>
                </a:solidFill>
                <a:latin typeface="Segoe UI"/>
              </a:rPr>
              <a:t>The result is a self-contained box that runs identically on any machine.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8AA6E"/>
                </a:solidFill>
                <a:latin typeface="Segoe UI"/>
              </a:rPr>
              <a:t>DEVOPS — 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0E6D2"/>
                </a:solidFill>
                <a:latin typeface="Segoe UI"/>
              </a:rPr>
              <a:t>Monitoring the live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2011680" cy="38100"/>
          </a:xfrm>
          <a:prstGeom prst="rect">
            <a:avLst/>
          </a:prstGeom>
          <a:solidFill>
            <a:srgbClr val="C8A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F0E6D2"/>
                </a:solidFill>
                <a:latin typeface="Segoe UI"/>
              </a:rPr>
              <a:t>•  The backend exposes a /metrics endpoint.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9AB0D0"/>
                </a:solidFill>
                <a:latin typeface="Segoe UI"/>
              </a:rPr>
              <a:t>•  Prometheus scrapes it; Grafana turns it into a live dashboard.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9AB0D0"/>
                </a:solidFill>
                <a:latin typeface="Segoe UI"/>
              </a:rPr>
              <a:t>•  It runs against the LIVE production backend, not just locally.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383280"/>
            <a:ext cx="5120640" cy="960120"/>
          </a:xfrm>
          <a:prstGeom prst="roundRect">
            <a:avLst/>
          </a:prstGeom>
          <a:solidFill>
            <a:srgbClr val="0F2140"/>
          </a:solidFill>
          <a:ln w="12700">
            <a:solidFill>
              <a:srgbClr val="244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C8AA6E"/>
                </a:solidFill>
                <a:latin typeface="Segoe UI"/>
              </a:rPr>
              <a:t>Number of predictions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383280"/>
            <a:ext cx="5120640" cy="960120"/>
          </a:xfrm>
          <a:prstGeom prst="roundRect">
            <a:avLst/>
          </a:prstGeom>
          <a:solidFill>
            <a:srgbClr val="142A50"/>
          </a:solidFill>
          <a:ln w="12700">
            <a:solidFill>
              <a:srgbClr val="244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C8AA6E"/>
                </a:solidFill>
                <a:latin typeface="Segoe UI"/>
              </a:rPr>
              <a:t>Prediction latency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526280"/>
            <a:ext cx="5120640" cy="960120"/>
          </a:xfrm>
          <a:prstGeom prst="roundRect">
            <a:avLst/>
          </a:prstGeom>
          <a:solidFill>
            <a:srgbClr val="0F2140"/>
          </a:solidFill>
          <a:ln w="12700">
            <a:solidFill>
              <a:srgbClr val="244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C8AA6E"/>
                </a:solidFill>
                <a:latin typeface="Segoe UI"/>
              </a:rPr>
              <a:t>Failed requests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4526280"/>
            <a:ext cx="5120640" cy="960120"/>
          </a:xfrm>
          <a:prstGeom prst="roundRect">
            <a:avLst/>
          </a:prstGeom>
          <a:solidFill>
            <a:srgbClr val="142A50"/>
          </a:solidFill>
          <a:ln w="12700">
            <a:solidFill>
              <a:srgbClr val="244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C8AA6E"/>
                </a:solidFill>
                <a:latin typeface="Segoe UI"/>
              </a:rPr>
              <a:t>Backend health / uptime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B0D0"/>
                </a:solidFill>
                <a:latin typeface="Segoe UI"/>
              </a:rPr>
              <a:t>docker compose -f docker-compose.monitoring.yml up   →   Grafana at localhost:3001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8AA6E"/>
                </a:solidFill>
                <a:latin typeface="Segoe UI"/>
              </a:rPr>
              <a:t>LET'S SHOW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0E6D2"/>
                </a:solidFill>
                <a:latin typeface="Segoe UI"/>
              </a:rPr>
              <a:t>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2011680" cy="38100"/>
          </a:xfrm>
          <a:prstGeom prst="rect">
            <a:avLst/>
          </a:prstGeom>
          <a:solidFill>
            <a:srgbClr val="C8A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800" b="0">
                <a:solidFill>
                  <a:srgbClr val="F0E6D2"/>
                </a:solidFill>
                <a:latin typeface="Segoe UI"/>
              </a:rPr>
              <a:t>•  1.  Open the app and make a prediction (lol-frontend-scaw.onrender.com)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800" b="0">
                <a:solidFill>
                  <a:srgbClr val="F0E6D2"/>
                </a:solidFill>
                <a:latin typeface="Segoe UI"/>
              </a:rPr>
              <a:t>•  2.  Show the code + README on GitHub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800" b="0">
                <a:solidFill>
                  <a:srgbClr val="F0E6D2"/>
                </a:solidFill>
                <a:latin typeface="Segoe UI"/>
              </a:rPr>
              <a:t>•  3.  Show the 3 green pipelines in the Actions tab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800" b="0">
                <a:solidFill>
                  <a:srgbClr val="F0E6D2"/>
                </a:solidFill>
                <a:latin typeface="Segoe UI"/>
              </a:rPr>
              <a:t>•  4.  Show the model registry on DagsHub (a model in Production)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800" b="0">
                <a:solidFill>
                  <a:srgbClr val="F0E6D2"/>
                </a:solidFill>
                <a:latin typeface="Segoe UI"/>
              </a:rPr>
              <a:t>•  5.  Show the Grafana monitoring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212080"/>
            <a:ext cx="10515600" cy="914400"/>
          </a:xfrm>
          <a:prstGeom prst="roundRect">
            <a:avLst/>
          </a:prstGeom>
          <a:solidFill>
            <a:srgbClr val="0F2140"/>
          </a:solidFill>
          <a:ln w="12700">
            <a:solidFill>
              <a:srgbClr val="244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349240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B0D0"/>
                </a:solidFill>
                <a:latin typeface="Segoe UI"/>
              </a:rPr>
              <a:t>Tip: the free server may take ~30s to wake up on the first request — that's normal.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8AA6E"/>
                </a:solidFill>
                <a:latin typeface="Segoe U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0E6D2"/>
                </a:solidFill>
                <a:latin typeface="Segoe UI"/>
              </a:rPr>
              <a:t>What we proved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2011680" cy="38100"/>
          </a:xfrm>
          <a:prstGeom prst="rect">
            <a:avLst/>
          </a:prstGeom>
          <a:solidFill>
            <a:srgbClr val="C8A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F0E6D2"/>
                </a:solidFill>
                <a:latin typeface="Segoe UI"/>
              </a:rPr>
              <a:t>•  A real AI model, live in production, served from a model registry.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F0E6D2"/>
                </a:solidFill>
                <a:latin typeface="Segoe UI"/>
              </a:rPr>
              <a:t>•  A fully automated pipeline: test → train → quality gate → deploy.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F0E6D2"/>
                </a:solidFill>
                <a:latin typeface="Segoe UI"/>
              </a:rPr>
              <a:t>•  Every model traceable to its data version and git commit.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F0E6D2"/>
                </a:solidFill>
                <a:latin typeface="Segoe UI"/>
              </a:rPr>
              <a:t>•  Monitored in real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206240"/>
            <a:ext cx="10515600" cy="1737360"/>
          </a:xfrm>
          <a:prstGeom prst="roundRect">
            <a:avLst/>
          </a:prstGeom>
          <a:solidFill>
            <a:srgbClr val="0F2140"/>
          </a:solidFill>
          <a:ln w="12700">
            <a:solidFill>
              <a:srgbClr val="244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389120"/>
            <a:ext cx="100584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C8AA6E"/>
                </a:solidFill>
                <a:latin typeface="Segoe UI"/>
              </a:rPr>
              <a:t>The value: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0E6D2"/>
                </a:solidFill>
                <a:latin typeface="Segoe UI"/>
              </a:rPr>
              <a:t>In real companies, the hard part of AI isn't building a model — it's operating it in production safely and repeatably. That is the MLOps engineer's job, and it's exactly what this project demonstrates end to 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C8AA6E"/>
                </a:solidFill>
                <a:latin typeface="Segoe UI"/>
              </a:rPr>
              <a:t>Thank you  —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